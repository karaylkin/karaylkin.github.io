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5a4e688cf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d5a4e688cf_2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" name="Google Shape;55;g3d5a4e688cf_2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5a4e688cf_2_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3d5a4e688cf_2_14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" name="Google Shape;68;g3d5a4e688cf_2_14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5a4e688cf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g3d5a4e688cf_0_3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" name="Google Shape;100;g3d5a4e688cf_0_3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5a4e688cf_2_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3d5a4e688cf_2_4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" name="Google Shape;108;g3d5a4e688cf_2_4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5a4e688cf_2_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d5a4e688cf_2_7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" name="Google Shape;137;g3d5a4e688cf_2_7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5a4e688cf_2_10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g3d5a4e688cf_2_10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8" name="Google Shape;168;g3d5a4e688cf_2_10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5a4e688cf_2_1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g3d5a4e688cf_2_14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8" name="Google Shape;208;g3d5a4e688cf_2_14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5a4e688cf_2_1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g3d5a4e688cf_2_19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3" name="Google Shape;263;g3d5a4e688cf_2_19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5a4e688cf_2_2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g3d5a4e688cf_2_23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6" name="Google Shape;306;g3d5a4e688cf_2_23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5a4e688cf_2_2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g3d5a4e688cf_2_27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6" name="Google Shape;346;g3d5a4e688cf_2_27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0"/>
              <a:buFont typeface="Calibri"/>
              <a:buNone/>
            </a:pPr>
            <a:r>
              <a:rPr b="1" i="0" lang="ru" sz="2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Ъ</a:t>
            </a:r>
            <a:endParaRPr b="0" i="0" sz="2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57200" y="109728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ru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КОММЕРСАНТЪ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57200" y="18745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800"/>
              <a:buFont typeface="Georgia"/>
              <a:buNone/>
            </a:pPr>
            <a:r>
              <a:rPr b="0" i="1" lang="ru" sz="18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Издательский дом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57200" y="2377440"/>
            <a:ext cx="2286000" cy="3657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457200" y="251460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500"/>
              <a:buFont typeface="Calibri"/>
              <a:buNone/>
            </a:pPr>
            <a:r>
              <a:rPr b="0" i="0" lang="ru" sz="15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Обзор информационного ресурса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57200" y="4389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99BB"/>
              </a:buClr>
              <a:buSzPts val="1200"/>
              <a:buFont typeface="Calibri"/>
              <a:buNone/>
            </a:pPr>
            <a:r>
              <a:rPr b="0" i="0" lang="ru" sz="1200" u="none" cap="none" strike="noStrike">
                <a:solidFill>
                  <a:srgbClr val="7799BB"/>
                </a:solidFill>
                <a:latin typeface="Calibri"/>
                <a:ea typeface="Calibri"/>
                <a:cs typeface="Calibri"/>
                <a:sym typeface="Calibri"/>
              </a:rPr>
              <a:t>kommersant.ru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457200" y="2901213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Выполнил: Ибрагимов Р.А.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ru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НАЗВАНИЕ И ГОД СОЗДАНИЯ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320040" y="914400"/>
            <a:ext cx="393192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320040" y="914400"/>
            <a:ext cx="3931920" cy="731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502920" y="109728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Georgia"/>
              <a:buNone/>
            </a:pPr>
            <a:r>
              <a:rPr b="1" lang="ru" sz="22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«Коммерсантъ»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502920" y="169164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None/>
            </a:pPr>
            <a:r>
              <a:rPr b="1" lang="ru" sz="12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Сокращение: </a:t>
            </a:r>
            <a: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«Ъ»</a:t>
            </a:r>
            <a:b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ru" sz="12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Тип: </a:t>
            </a:r>
            <a: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Ежедневная деловая газета</a:t>
            </a:r>
            <a:b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и мультимедийный холдинг</a:t>
            </a:r>
            <a:b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ru" sz="12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Основан: </a:t>
            </a:r>
            <a: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1988 год</a:t>
            </a:r>
            <a:b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ru" sz="12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Регулярный выход: </a:t>
            </a:r>
            <a: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с 8 января 1990 г.</a:t>
            </a:r>
            <a:b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ru" sz="12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Периодичность: </a:t>
            </a:r>
            <a: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6 раз в неделю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1250"/>
              <a:buFont typeface="Calibri"/>
              <a:buNone/>
            </a:pPr>
            <a:r>
              <a:rPr lang="ru" sz="12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(пн–сб)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754880" y="914400"/>
            <a:ext cx="406908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4754880" y="914400"/>
            <a:ext cx="4069080" cy="73152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4937760" y="10515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lang="ru" sz="14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Ключевые даты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892040" y="1572768"/>
            <a:ext cx="594360" cy="2926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4892040" y="1572768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ru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1987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577840" y="1563624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Создание справочно-информационной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службы «Факт»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892040" y="2075688"/>
            <a:ext cx="594360" cy="2926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4892040" y="2075688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ru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1989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577840" y="2066544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Пилотный номер газеты «Коммерсантъ»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892040" y="2578608"/>
            <a:ext cx="594360" cy="2926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4892040" y="2578608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ru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577840" y="2569464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Запуск ежедневной «Коммерсантъ-Daily»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892040" y="3081528"/>
            <a:ext cx="594360" cy="2926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892040" y="3081528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ru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577840" y="3072384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Продажа Борису Березовскому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892040" y="3584448"/>
            <a:ext cx="594360" cy="2926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4892040" y="3584448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ru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5577840" y="3575304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Покупка Алишером Усмановым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892040" y="4087368"/>
            <a:ext cx="594360" cy="2926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892040" y="4087368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ru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5577840" y="4078224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Гл. редактор — Михаил Лукин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267390" y="0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ru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НАЧАЛЬНЫЙ ЭКРАН РЕСУРСА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0900"/>
            <a:ext cx="8839204" cy="4057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ru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ЦЕЛЬ И ЗАДАЧИ АГЕНТСТВА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320040" y="868680"/>
            <a:ext cx="8503920" cy="1234440"/>
          </a:xfrm>
          <a:prstGeom prst="rect">
            <a:avLst/>
          </a:prstGeom>
          <a:solidFill>
            <a:srgbClr val="212B45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450"/>
              <a:buFont typeface="Georgia"/>
              <a:buNone/>
            </a:pPr>
            <a:r>
              <a:rPr i="1" lang="ru" sz="1450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«Оперативно, достоверно и объективно информировать о ключевых событиях, формирующих деловую повестку дня»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20040" y="2286000"/>
            <a:ext cx="4069080" cy="1234440"/>
          </a:xfrm>
          <a:prstGeom prst="rect">
            <a:avLst/>
          </a:prstGeom>
          <a:solidFill>
            <a:srgbClr val="212B45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320040" y="2286000"/>
            <a:ext cx="502920" cy="12344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320040" y="228600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ru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914400" y="24231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Информирование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914400" y="278892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Оперативное освещение деловых,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политических и общественных событий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663440" y="2286000"/>
            <a:ext cx="4069080" cy="1234440"/>
          </a:xfrm>
          <a:prstGeom prst="rect">
            <a:avLst/>
          </a:prstGeom>
          <a:solidFill>
            <a:srgbClr val="212B45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4663440" y="2286000"/>
            <a:ext cx="502920" cy="12344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4663440" y="228600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ru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257800" y="24231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Аналитика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5257800" y="278892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Экспертный анализ рынков, финансов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и политических процессов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20040" y="3703320"/>
            <a:ext cx="4069080" cy="1234440"/>
          </a:xfrm>
          <a:prstGeom prst="rect">
            <a:avLst/>
          </a:prstGeom>
          <a:solidFill>
            <a:srgbClr val="212B45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320040" y="3703320"/>
            <a:ext cx="502920" cy="12344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320040" y="370332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ru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914400" y="38404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Достоверность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914400" y="420624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Проверка фактов, опора на первичные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источники и официальные данные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663440" y="3703320"/>
            <a:ext cx="4069080" cy="1234440"/>
          </a:xfrm>
          <a:prstGeom prst="rect">
            <a:avLst/>
          </a:prstGeom>
          <a:solidFill>
            <a:srgbClr val="212B45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4663440" y="3703320"/>
            <a:ext cx="502920" cy="12344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4663440" y="370332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ru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5257800" y="38404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Доступность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257800" y="420624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Распространение через газету, сайт,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радио, соцсети и мобильные приложения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ru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ТЕМАТИЧЕСКИЕ НАПРАВЛЕНИЯ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274320" y="868680"/>
            <a:ext cx="2011680" cy="178308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274320" y="1097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ru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₽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274320" y="17373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Экономика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 финансы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2432304" y="868680"/>
            <a:ext cx="2011680" cy="1783080"/>
          </a:xfrm>
          <a:prstGeom prst="rect">
            <a:avLst/>
          </a:prstGeom>
          <a:solidFill>
            <a:srgbClr val="1D4E2A"/>
          </a:solidFill>
          <a:ln cap="flat" cmpd="sng" w="12700">
            <a:solidFill>
              <a:srgbClr val="1D4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2432304" y="1097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ru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⚖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2432304" y="17373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Политика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 общество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590288" y="868680"/>
            <a:ext cx="2011680" cy="1783080"/>
          </a:xfrm>
          <a:prstGeom prst="rect">
            <a:avLst/>
          </a:prstGeom>
          <a:solidFill>
            <a:srgbClr val="6E2A0C"/>
          </a:solidFill>
          <a:ln cap="flat" cmpd="sng" w="12700">
            <a:solidFill>
              <a:srgbClr val="6E2A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590288" y="1097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ru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◈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590288" y="17373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Бизнес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 компании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6748272" y="868680"/>
            <a:ext cx="2011680" cy="1783080"/>
          </a:xfrm>
          <a:prstGeom prst="rect">
            <a:avLst/>
          </a:prstGeom>
          <a:solidFill>
            <a:srgbClr val="2C3E7A"/>
          </a:solidFill>
          <a:ln cap="flat" cmpd="sng" w="12700">
            <a:solidFill>
              <a:srgbClr val="2C3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6748272" y="1097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ru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748272" y="17373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Мировые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новости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274320" y="2880360"/>
            <a:ext cx="2011680" cy="1783080"/>
          </a:xfrm>
          <a:prstGeom prst="rect">
            <a:avLst/>
          </a:prstGeom>
          <a:solidFill>
            <a:srgbClr val="6B2D5E"/>
          </a:solidFill>
          <a:ln cap="flat" cmpd="sng" w="12700">
            <a:solidFill>
              <a:srgbClr val="6B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274320" y="31089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ru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✧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74320" y="37490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Культура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 стиль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2432304" y="2880360"/>
            <a:ext cx="2011680" cy="1783080"/>
          </a:xfrm>
          <a:prstGeom prst="rect">
            <a:avLst/>
          </a:prstGeom>
          <a:solidFill>
            <a:srgbClr val="1B6B50"/>
          </a:solidFill>
          <a:ln cap="flat" cmpd="sng" w="12700">
            <a:solidFill>
              <a:srgbClr val="1B6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2432304" y="31089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ru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2432304" y="37490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Спорт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4590288" y="2880360"/>
            <a:ext cx="2011680" cy="1783080"/>
          </a:xfrm>
          <a:prstGeom prst="rect">
            <a:avLst/>
          </a:prstGeom>
          <a:solidFill>
            <a:srgbClr val="2D4F6B"/>
          </a:solidFill>
          <a:ln cap="flat" cmpd="sng" w="12700">
            <a:solidFill>
              <a:srgbClr val="2D4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4590288" y="31089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ru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⬡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4590288" y="37490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Технологии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6748272" y="2880360"/>
            <a:ext cx="2011680" cy="1783080"/>
          </a:xfrm>
          <a:prstGeom prst="rect">
            <a:avLst/>
          </a:prstGeom>
          <a:solidFill>
            <a:srgbClr val="5C3A1E"/>
          </a:solidFill>
          <a:ln cap="flat" cmpd="sng" w="12700">
            <a:solidFill>
              <a:srgbClr val="5C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6748272" y="31089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ru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⌂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748272" y="37490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Недвижимость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 авто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ru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СТРУКТУРА АГЕНТСТВА / САЙТА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3200400" y="822960"/>
            <a:ext cx="2743200" cy="594360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3200400" y="82296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ИД «Коммерсантъ»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 rot="10800000">
            <a:off x="1554480" y="1417320"/>
            <a:ext cx="3017520" cy="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20"/>
          <p:cNvCxnSpPr/>
          <p:nvPr/>
        </p:nvCxnSpPr>
        <p:spPr>
          <a:xfrm>
            <a:off x="1554480" y="1417320"/>
            <a:ext cx="0" cy="32004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20"/>
          <p:cNvCxnSpPr/>
          <p:nvPr/>
        </p:nvCxnSpPr>
        <p:spPr>
          <a:xfrm rot="10800000">
            <a:off x="3200400" y="1417320"/>
            <a:ext cx="1371600" cy="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3200400" y="1417320"/>
            <a:ext cx="0" cy="32004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4572000" y="1417320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20"/>
          <p:cNvCxnSpPr/>
          <p:nvPr/>
        </p:nvCxnSpPr>
        <p:spPr>
          <a:xfrm>
            <a:off x="4846320" y="1417320"/>
            <a:ext cx="0" cy="32004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0"/>
          <p:cNvCxnSpPr/>
          <p:nvPr/>
        </p:nvCxnSpPr>
        <p:spPr>
          <a:xfrm>
            <a:off x="4572000" y="1417320"/>
            <a:ext cx="1920240" cy="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6492240" y="1417320"/>
            <a:ext cx="0" cy="32004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4572000" y="141732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20"/>
          <p:cNvCxnSpPr/>
          <p:nvPr/>
        </p:nvCxnSpPr>
        <p:spPr>
          <a:xfrm>
            <a:off x="8138160" y="1417320"/>
            <a:ext cx="0" cy="32004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20"/>
          <p:cNvSpPr/>
          <p:nvPr/>
        </p:nvSpPr>
        <p:spPr>
          <a:xfrm>
            <a:off x="320040" y="1737360"/>
            <a:ext cx="1554480" cy="13716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320040" y="1810512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Газета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Коммерсантъ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20040" y="245059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8DD"/>
              </a:buClr>
              <a:buSzPts val="900"/>
              <a:buFont typeface="Calibri"/>
              <a:buNone/>
            </a:pPr>
            <a:r>
              <a:rPr lang="ru" sz="900">
                <a:solidFill>
                  <a:srgbClr val="EEE8DD"/>
                </a:solidFill>
                <a:latin typeface="Calibri"/>
                <a:ea typeface="Calibri"/>
                <a:cs typeface="Calibri"/>
                <a:sym typeface="Calibri"/>
              </a:rPr>
              <a:t>Ежедн., пн–сб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8DD"/>
              </a:buClr>
              <a:buSzPts val="900"/>
              <a:buFont typeface="Calibri"/>
              <a:buNone/>
            </a:pPr>
            <a:r>
              <a:rPr lang="ru" sz="900">
                <a:solidFill>
                  <a:srgbClr val="EEE8DD"/>
                </a:solidFill>
                <a:latin typeface="Calibri"/>
                <a:ea typeface="Calibri"/>
                <a:cs typeface="Calibri"/>
                <a:sym typeface="Calibri"/>
              </a:rPr>
              <a:t>12 стр.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965960" y="1737360"/>
            <a:ext cx="1554480" cy="137160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1965960" y="1810512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Журналы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965960" y="245059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8DD"/>
              </a:buClr>
              <a:buSzPts val="900"/>
              <a:buFont typeface="Calibri"/>
              <a:buNone/>
            </a:pPr>
            <a:r>
              <a:rPr lang="ru" sz="900">
                <a:solidFill>
                  <a:srgbClr val="EEE8DD"/>
                </a:solidFill>
                <a:latin typeface="Calibri"/>
                <a:ea typeface="Calibri"/>
                <a:cs typeface="Calibri"/>
                <a:sym typeface="Calibri"/>
              </a:rPr>
              <a:t>WEEKEND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8DD"/>
              </a:buClr>
              <a:buSzPts val="900"/>
              <a:buFont typeface="Calibri"/>
              <a:buNone/>
            </a:pPr>
            <a:r>
              <a:rPr lang="ru" sz="900">
                <a:solidFill>
                  <a:srgbClr val="EEE8DD"/>
                </a:solidFill>
                <a:latin typeface="Calibri"/>
                <a:ea typeface="Calibri"/>
                <a:cs typeface="Calibri"/>
                <a:sym typeface="Calibri"/>
              </a:rPr>
              <a:t>ДЕНЬГИ НАУКА АВТО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611880" y="1737360"/>
            <a:ext cx="1554480" cy="1371600"/>
          </a:xfrm>
          <a:prstGeom prst="rect">
            <a:avLst/>
          </a:prstGeom>
          <a:solidFill>
            <a:srgbClr val="1D4E2A"/>
          </a:solidFill>
          <a:ln cap="flat" cmpd="sng" w="12700">
            <a:solidFill>
              <a:srgbClr val="1D4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3611880" y="1810512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Радио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Коммерсантъ FM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611880" y="245059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8DD"/>
              </a:buClr>
              <a:buSzPts val="900"/>
              <a:buFont typeface="Calibri"/>
              <a:buNone/>
            </a:pPr>
            <a:r>
              <a:rPr lang="ru" sz="900">
                <a:solidFill>
                  <a:srgbClr val="EEE8DD"/>
                </a:solidFill>
                <a:latin typeface="Calibri"/>
                <a:ea typeface="Calibri"/>
                <a:cs typeface="Calibri"/>
                <a:sym typeface="Calibri"/>
              </a:rPr>
              <a:t>Информ.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8DD"/>
              </a:buClr>
              <a:buSzPts val="900"/>
              <a:buFont typeface="Calibri"/>
              <a:buNone/>
            </a:pPr>
            <a:r>
              <a:rPr lang="ru" sz="900">
                <a:solidFill>
                  <a:srgbClr val="EEE8DD"/>
                </a:solidFill>
                <a:latin typeface="Calibri"/>
                <a:ea typeface="Calibri"/>
                <a:cs typeface="Calibri"/>
                <a:sym typeface="Calibri"/>
              </a:rPr>
              <a:t>станция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257800" y="1737360"/>
            <a:ext cx="1554480" cy="1371600"/>
          </a:xfrm>
          <a:prstGeom prst="rect">
            <a:avLst/>
          </a:prstGeom>
          <a:solidFill>
            <a:srgbClr val="6E2A0C"/>
          </a:solidFill>
          <a:ln cap="flat" cmpd="sng" w="12700">
            <a:solidFill>
              <a:srgbClr val="6E2A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257800" y="1810512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Сайт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kommersant.ru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257800" y="245059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8DD"/>
              </a:buClr>
              <a:buSzPts val="900"/>
              <a:buFont typeface="Calibri"/>
              <a:buNone/>
            </a:pPr>
            <a:r>
              <a:rPr lang="ru" sz="900">
                <a:solidFill>
                  <a:srgbClr val="EEE8DD"/>
                </a:solidFill>
                <a:latin typeface="Calibri"/>
                <a:ea typeface="Calibri"/>
                <a:cs typeface="Calibri"/>
                <a:sym typeface="Calibri"/>
              </a:rPr>
              <a:t>Сетевое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8DD"/>
              </a:buClr>
              <a:buSzPts val="900"/>
              <a:buFont typeface="Calibri"/>
              <a:buNone/>
            </a:pPr>
            <a:r>
              <a:rPr lang="ru" sz="900">
                <a:solidFill>
                  <a:srgbClr val="EEE8DD"/>
                </a:solidFill>
                <a:latin typeface="Calibri"/>
                <a:ea typeface="Calibri"/>
                <a:cs typeface="Calibri"/>
                <a:sym typeface="Calibri"/>
              </a:rPr>
              <a:t>издание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903720" y="1737360"/>
            <a:ext cx="1554480" cy="1371600"/>
          </a:xfrm>
          <a:prstGeom prst="rect">
            <a:avLst/>
          </a:prstGeom>
          <a:solidFill>
            <a:srgbClr val="5C3A1E"/>
          </a:solidFill>
          <a:ln cap="flat" cmpd="sng" w="12700">
            <a:solidFill>
              <a:srgbClr val="5C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6903720" y="1810512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Картотека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Фотоагентство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903720" y="245059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8DD"/>
              </a:buClr>
              <a:buSzPts val="900"/>
              <a:buFont typeface="Calibri"/>
              <a:buNone/>
            </a:pPr>
            <a:r>
              <a:rPr lang="ru" sz="900">
                <a:solidFill>
                  <a:srgbClr val="EEE8DD"/>
                </a:solidFill>
                <a:latin typeface="Calibri"/>
                <a:ea typeface="Calibri"/>
                <a:cs typeface="Calibri"/>
                <a:sym typeface="Calibri"/>
              </a:rPr>
              <a:t>Базы данных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8DD"/>
              </a:buClr>
              <a:buSzPts val="900"/>
              <a:buFont typeface="Calibri"/>
              <a:buNone/>
            </a:pPr>
            <a:r>
              <a:rPr lang="ru" sz="900">
                <a:solidFill>
                  <a:srgbClr val="EEE8DD"/>
                </a:solidFill>
                <a:latin typeface="Calibri"/>
                <a:ea typeface="Calibri"/>
                <a:cs typeface="Calibri"/>
                <a:sym typeface="Calibri"/>
              </a:rPr>
              <a:t>Фото-архив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20040" y="3337560"/>
            <a:ext cx="8503920" cy="640080"/>
          </a:xfrm>
          <a:prstGeom prst="rect">
            <a:avLst/>
          </a:prstGeom>
          <a:solidFill>
            <a:srgbClr val="2C3E50"/>
          </a:solidFill>
          <a:ln cap="flat" cmpd="sng" w="12700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320040" y="33375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Региональные приложения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2834640" y="333756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50"/>
              <a:buFont typeface="Calibri"/>
              <a:buNone/>
            </a:pPr>
            <a:r>
              <a:rPr lang="ru" sz="105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Санкт-Петербург · Самара · Нижний Новгород · Воронеж · Екатеринбург · Ростов-на-Дону и др.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1A3050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457200" y="41605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lang="ru" sz="11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Сайт kommersant.ru: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560320" y="4160520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ru" sz="100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Новости · Газета онлайн · Архив · Мультимедиа · Подписка · Конференции · Банкротства · Инвестиции · Академия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УПРАВЛЕНИЕ · РЕГИСТРАЦИЯ · ВОЗРАСТНОЕ ОГРАНИЧЕНИЕ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20040" y="822960"/>
            <a:ext cx="27432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320040" y="822960"/>
            <a:ext cx="2743200" cy="457200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320040" y="822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Управление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11480" y="1371600"/>
            <a:ext cx="256032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484632" y="1408176"/>
            <a:ext cx="2414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Владелец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84632" y="1664208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Алишер Усманов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(ООО «Коммерсантъ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Холдинг»)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11480" y="2176272"/>
            <a:ext cx="256032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484632" y="2212848"/>
            <a:ext cx="2414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Гл. редактор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газеты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484632" y="2468880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Михаил Лукин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(с 1 июля 2024 г.)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11480" y="2980944"/>
            <a:ext cx="256032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484632" y="3017520"/>
            <a:ext cx="2414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Гендиректор ИД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84632" y="3273552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Роман Уманский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(с авг. 2024 г.)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11480" y="3785616"/>
            <a:ext cx="256032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484632" y="3822192"/>
            <a:ext cx="2414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Штаб-квартира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84632" y="4078224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Москва,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Оружейный пер.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246125" y="822949"/>
            <a:ext cx="3017400" cy="43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3246120" y="822960"/>
            <a:ext cx="3017520" cy="457200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3246120" y="8229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Регистрация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337560" y="1371600"/>
            <a:ext cx="283464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3410712" y="1408176"/>
            <a:ext cx="2688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Тип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410712" y="1664208"/>
            <a:ext cx="2688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Сетевое издание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337560" y="2176272"/>
            <a:ext cx="283464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3410712" y="2212848"/>
            <a:ext cx="2688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Регистратор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410712" y="2468880"/>
            <a:ext cx="2688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Роскомнадзор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3337560" y="2980944"/>
            <a:ext cx="283464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3410712" y="3017520"/>
            <a:ext cx="2688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Номер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(сайт)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3410712" y="3273552"/>
            <a:ext cx="2688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Эл № ФС77-76922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3337560" y="3785616"/>
            <a:ext cx="283464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3410725" y="3803917"/>
            <a:ext cx="268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Дата рег.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3410712" y="4078224"/>
            <a:ext cx="2688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11 октября 2019 г.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337525" y="4590302"/>
            <a:ext cx="2834700" cy="4800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3410737" y="4590289"/>
            <a:ext cx="268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Газета (печать)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3410675" y="4754871"/>
            <a:ext cx="2688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ПИ № ФС77-31590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446520" y="822960"/>
            <a:ext cx="237744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6446520" y="822960"/>
            <a:ext cx="2377440" cy="4572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6446520" y="8229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Ограничения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537960" y="1371600"/>
            <a:ext cx="219456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6611112" y="1408176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Возрастной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ценз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6611112" y="1664208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16+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6537960" y="2176272"/>
            <a:ext cx="219456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6611112" y="2212848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Язык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611112" y="2468880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Русский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537960" y="2980944"/>
            <a:ext cx="219456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6611112" y="3017520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Тираж газеты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611112" y="3273552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~85 000 экз.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6537960" y="3785616"/>
            <a:ext cx="2194560" cy="685800"/>
          </a:xfrm>
          <a:prstGeom prst="rect">
            <a:avLst/>
          </a:prstGeom>
          <a:solidFill>
            <a:srgbClr val="F2EEE8"/>
          </a:solidFill>
          <a:ln cap="flat" cmpd="sng" w="12700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6611112" y="3822192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00"/>
              <a:buFont typeface="Calibri"/>
              <a:buNone/>
            </a:pPr>
            <a:r>
              <a:rPr b="1" lang="ru" sz="90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Периодич.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611112" y="4078224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6 раз в неделю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36576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ru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ИСТОЧНИКИ ИНФОРМАЦИИ И ОЦЕНКА КАЧЕСТВА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320040" y="77724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400"/>
              <a:buFont typeface="Calibri"/>
              <a:buNone/>
            </a:pPr>
            <a:r>
              <a:rPr b="1" lang="ru" sz="14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Источники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320040" y="1261872"/>
            <a:ext cx="182880" cy="18288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594360" y="120700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150"/>
              <a:buFont typeface="Calibri"/>
              <a:buNone/>
            </a:pPr>
            <a:r>
              <a:rPr lang="ru" sz="115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Собственные корреспонденты в регионах и за рубежом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320040" y="1810512"/>
            <a:ext cx="182880" cy="18288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594360" y="17556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150"/>
              <a:buFont typeface="Calibri"/>
              <a:buNone/>
            </a:pPr>
            <a:r>
              <a:rPr lang="ru" sz="115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Официальные пресс-службы компаний и ведомств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320040" y="2359152"/>
            <a:ext cx="182880" cy="18288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594360" y="230428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150"/>
              <a:buFont typeface="Calibri"/>
              <a:buNone/>
            </a:pPr>
            <a:r>
              <a:rPr lang="ru" sz="115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Федеральные органы власти, Банк России, Минфин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320040" y="2907792"/>
            <a:ext cx="182880" cy="18288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594360" y="28529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150"/>
              <a:buFont typeface="Calibri"/>
              <a:buNone/>
            </a:pPr>
            <a:r>
              <a:rPr lang="ru" sz="115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Российские информагентства (ТАСС, Интерфакс, РИА)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320040" y="3456432"/>
            <a:ext cx="182880" cy="18288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594360" y="34015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150"/>
              <a:buFont typeface="Calibri"/>
              <a:buNone/>
            </a:pPr>
            <a:r>
              <a:rPr lang="ru" sz="115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Зарубежные агентства (Reuters, Bloomberg, AP)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320040" y="4005072"/>
            <a:ext cx="182880" cy="18288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594360" y="395020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150"/>
              <a:buFont typeface="Calibri"/>
              <a:buNone/>
            </a:pPr>
            <a:r>
              <a:rPr lang="ru" sz="115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Эксперты, аналитики и участники рынка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22"/>
          <p:cNvCxnSpPr/>
          <p:nvPr/>
        </p:nvCxnSpPr>
        <p:spPr>
          <a:xfrm>
            <a:off x="4663440" y="777240"/>
            <a:ext cx="0" cy="4114800"/>
          </a:xfrm>
          <a:prstGeom prst="straightConnector1">
            <a:avLst/>
          </a:prstGeom>
          <a:noFill/>
          <a:ln cap="flat" cmpd="sng" w="12700">
            <a:solidFill>
              <a:srgbClr val="33446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2" name="Google Shape;282;p22"/>
          <p:cNvSpPr/>
          <p:nvPr/>
        </p:nvSpPr>
        <p:spPr>
          <a:xfrm>
            <a:off x="4846320" y="7772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400"/>
              <a:buFont typeface="Calibri"/>
              <a:buNone/>
            </a:pPr>
            <a:r>
              <a:rPr b="1" lang="ru" sz="14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Оценка качества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4846320" y="12984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Актуальность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4846320" y="1600200"/>
            <a:ext cx="3749040" cy="164592"/>
          </a:xfrm>
          <a:prstGeom prst="rect">
            <a:avLst/>
          </a:prstGeom>
          <a:solidFill>
            <a:srgbClr val="2A3A55"/>
          </a:solidFill>
          <a:ln cap="flat" cmpd="sng" w="12700">
            <a:solidFill>
              <a:srgbClr val="2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4846320" y="1600200"/>
            <a:ext cx="3561588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8366760" y="15544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b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846320" y="179222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50"/>
              <a:buFont typeface="Calibri"/>
              <a:buNone/>
            </a:pPr>
            <a:r>
              <a:rPr lang="ru" sz="950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Обновление 24/7, срочные новости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4846320" y="21488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Достоверность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4846320" y="2450592"/>
            <a:ext cx="3749040" cy="164592"/>
          </a:xfrm>
          <a:prstGeom prst="rect">
            <a:avLst/>
          </a:prstGeom>
          <a:solidFill>
            <a:srgbClr val="2A3A55"/>
          </a:solidFill>
          <a:ln cap="flat" cmpd="sng" w="12700">
            <a:solidFill>
              <a:srgbClr val="2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4846320" y="2450592"/>
            <a:ext cx="3374136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8366760" y="24048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b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484632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50"/>
              <a:buFont typeface="Calibri"/>
              <a:buNone/>
            </a:pPr>
            <a:r>
              <a:rPr lang="ru" sz="950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Проверка источников, ссылки на первоисточники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4846320" y="299923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Полнота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4846320" y="3300984"/>
            <a:ext cx="3749040" cy="164592"/>
          </a:xfrm>
          <a:prstGeom prst="rect">
            <a:avLst/>
          </a:prstGeom>
          <a:solidFill>
            <a:srgbClr val="2A3A55"/>
          </a:solidFill>
          <a:ln cap="flat" cmpd="sng" w="12700">
            <a:solidFill>
              <a:srgbClr val="2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4846320" y="3300984"/>
            <a:ext cx="3299155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"/>
          <p:cNvSpPr/>
          <p:nvPr/>
        </p:nvSpPr>
        <p:spPr>
          <a:xfrm>
            <a:off x="8366760" y="325526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b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88%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4846320" y="349300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50"/>
              <a:buFont typeface="Calibri"/>
              <a:buNone/>
            </a:pPr>
            <a:r>
              <a:rPr lang="ru" sz="950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Широкий охват: деловая, полит., культурная повестка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4846320" y="384962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Аналитика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4846320" y="4151376"/>
            <a:ext cx="3749040" cy="164592"/>
          </a:xfrm>
          <a:prstGeom prst="rect">
            <a:avLst/>
          </a:prstGeom>
          <a:solidFill>
            <a:srgbClr val="2A3A55"/>
          </a:solidFill>
          <a:ln cap="flat" cmpd="sng" w="12700">
            <a:solidFill>
              <a:srgbClr val="2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4846320" y="4151376"/>
            <a:ext cx="3449117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8366760" y="410565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b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4846320" y="434340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50"/>
              <a:buFont typeface="Calibri"/>
              <a:buNone/>
            </a:pPr>
            <a:r>
              <a:rPr lang="ru" sz="950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Авторские колонки, экспертные комментарии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ru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СОЦИАЛЬНЫЕ СЕТИ · URL · ОБЩЕЕ ВПЕЧАТЛЕНИЕ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320040" y="868680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320040" y="868680"/>
            <a:ext cx="201168" cy="1097280"/>
          </a:xfrm>
          <a:prstGeom prst="rect">
            <a:avLst/>
          </a:prstGeom>
          <a:solidFill>
            <a:srgbClr val="0088CC"/>
          </a:solidFill>
          <a:ln cap="flat" cmpd="sng" w="12700">
            <a:solidFill>
              <a:srgbClr val="008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594360" y="960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Telegram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594360" y="13258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8CC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0088CC"/>
                </a:solidFill>
                <a:latin typeface="Calibri"/>
                <a:ea typeface="Calibri"/>
                <a:cs typeface="Calibri"/>
                <a:sym typeface="Calibri"/>
              </a:rPr>
              <a:t>t.me/kommersant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594360" y="161848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50"/>
              <a:buFont typeface="Calibri"/>
              <a:buNone/>
            </a:pPr>
            <a:r>
              <a:rPr lang="ru" sz="9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2.5 млн+ подписчиков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3200400" y="868680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3200400" y="868680"/>
            <a:ext cx="201168" cy="1097280"/>
          </a:xfrm>
          <a:prstGeom prst="rect">
            <a:avLst/>
          </a:prstGeom>
          <a:solidFill>
            <a:srgbClr val="4C75A3"/>
          </a:solidFill>
          <a:ln cap="flat" cmpd="sng" w="12700">
            <a:solidFill>
              <a:srgbClr val="4C75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3474720" y="960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ВКонтакте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3474720" y="13258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5A3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4C75A3"/>
                </a:solidFill>
                <a:latin typeface="Calibri"/>
                <a:ea typeface="Calibri"/>
                <a:cs typeface="Calibri"/>
                <a:sym typeface="Calibri"/>
              </a:rPr>
              <a:t>vk.com/kommersant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3474720" y="161848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50"/>
              <a:buFont typeface="Calibri"/>
              <a:buNone/>
            </a:pPr>
            <a:r>
              <a:rPr lang="ru" sz="9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~900 тыс.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6080760" y="868680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"/>
          <p:cNvSpPr/>
          <p:nvPr/>
        </p:nvSpPr>
        <p:spPr>
          <a:xfrm>
            <a:off x="6080760" y="868680"/>
            <a:ext cx="201168" cy="10972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6355080" y="960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YouTube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6355080" y="13258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youtube.com/@kommersant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6355080" y="161848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50"/>
              <a:buFont typeface="Calibri"/>
              <a:buNone/>
            </a:pPr>
            <a:r>
              <a:rPr lang="ru" sz="9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Видеоконтент, стримы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320040" y="2103120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>
            <a:off x="320040" y="2103120"/>
            <a:ext cx="201168" cy="1097280"/>
          </a:xfrm>
          <a:prstGeom prst="rect">
            <a:avLst/>
          </a:prstGeom>
          <a:solidFill>
            <a:srgbClr val="3B5998"/>
          </a:solidFill>
          <a:ln cap="flat" cmpd="sng" w="12700">
            <a:solidFill>
              <a:srgbClr val="3B59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594360" y="2194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Facebook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594360" y="2560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5998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3B5998"/>
                </a:solidFill>
                <a:latin typeface="Calibri"/>
                <a:ea typeface="Calibri"/>
                <a:cs typeface="Calibri"/>
                <a:sym typeface="Calibri"/>
              </a:rPr>
              <a:t>facebook.com/kommersant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594360" y="28529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50"/>
              <a:buFont typeface="Calibri"/>
              <a:buNone/>
            </a:pPr>
            <a:r>
              <a:rPr lang="ru" sz="9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244 тыс.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3200400" y="2103120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3200400" y="2103120"/>
            <a:ext cx="201168" cy="1097280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3474720" y="2194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Сайт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3474720" y="2560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www.kommersant.ru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3474720" y="28529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50"/>
              <a:buFont typeface="Calibri"/>
              <a:buNone/>
            </a:pPr>
            <a:r>
              <a:rPr lang="ru" sz="9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Главный ресурс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6080760" y="2103120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6080760" y="2103120"/>
            <a:ext cx="201168" cy="1097280"/>
          </a:xfrm>
          <a:prstGeom prst="rect">
            <a:avLst/>
          </a:prstGeom>
          <a:solidFill>
            <a:srgbClr val="1D6A52"/>
          </a:solidFill>
          <a:ln cap="flat" cmpd="sng" w="12700">
            <a:solidFill>
              <a:srgbClr val="1D6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6355080" y="2194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Радио онлайн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6355080" y="2560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A52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1D6A52"/>
                </a:solidFill>
                <a:latin typeface="Calibri"/>
                <a:ea typeface="Calibri"/>
                <a:cs typeface="Calibri"/>
                <a:sym typeface="Calibri"/>
              </a:rPr>
              <a:t>kommersant.ru/fm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6355080" y="28529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950"/>
              <a:buFont typeface="Calibri"/>
              <a:buNone/>
            </a:pPr>
            <a:r>
              <a:rPr lang="ru" sz="950">
                <a:solidFill>
                  <a:srgbClr val="4A4A5A"/>
                </a:solidFill>
                <a:latin typeface="Calibri"/>
                <a:ea typeface="Calibri"/>
                <a:cs typeface="Calibri"/>
                <a:sym typeface="Calibri"/>
              </a:rPr>
              <a:t>Прямой эфир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320040" y="3337560"/>
            <a:ext cx="8503920" cy="1463040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502920" y="340156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Общее впечатление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502920" y="3749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ru" sz="110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Сайт kommersant.ru выполнен в строгом деловом стиле: тёмно-синяя шапка, лаконичная типографика, минимум «лишнего». Интерфейс удобен для профессионала — быстрый доступ к рубрикам, архиву и подписке. Информация актуальная и хорошо структурированная; высокий уровень достоверности подкреплён ссылками на первоисточники. Стиль изложения — строгий, фактологический, без «жёлтых» заголовков.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4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ru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ИСТОЧНИКИ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320040" y="868680"/>
            <a:ext cx="347472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"/>
          <p:cNvSpPr/>
          <p:nvPr/>
        </p:nvSpPr>
        <p:spPr>
          <a:xfrm>
            <a:off x="320040" y="8686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ru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777240" y="8869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Официальный сайт ИД «Коммерсантъ»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5897880" y="8869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www.kommersant.ru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320040" y="1371600"/>
            <a:ext cx="347472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320040" y="1371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ru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777240" y="138988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Правовая информация / Регистрация СМИ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5897880" y="138988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kommersant.ru/doc/3850098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320040" y="1874520"/>
            <a:ext cx="347472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4"/>
          <p:cNvSpPr/>
          <p:nvPr/>
        </p:nvSpPr>
        <p:spPr>
          <a:xfrm>
            <a:off x="320040" y="18745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ru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777240" y="189280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Контакты ИД «Коммерсантъ»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5897880" y="18928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kommersant.ru/contacts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320040" y="2377440"/>
            <a:ext cx="347472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320040" y="23774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ru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777240" y="239572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Коммерсантъ — Википедия (рус.)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5897880" y="239572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ru.wikipedia.org/wiki/Коммерсантъ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320040" y="2880360"/>
            <a:ext cx="347472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4"/>
          <p:cNvSpPr/>
          <p:nvPr/>
        </p:nvSpPr>
        <p:spPr>
          <a:xfrm>
            <a:off x="320040" y="28803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ru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777240" y="289864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ИД «Коммерсантъ» — история (ruwiki)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5897880" y="28986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ru.ruwiki.ru/wiki/Коммерсантъ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320040" y="3383280"/>
            <a:ext cx="347472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4"/>
          <p:cNvSpPr/>
          <p:nvPr/>
        </p:nvSpPr>
        <p:spPr>
          <a:xfrm>
            <a:off x="320040" y="33832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ru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777240" y="34015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РИА Новости — справка об ИД «Ъ»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5897880" y="34015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ria.ru/20111213/515482988.html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4"/>
          <p:cNvSpPr/>
          <p:nvPr/>
        </p:nvSpPr>
        <p:spPr>
          <a:xfrm>
            <a:off x="320040" y="3886200"/>
            <a:ext cx="347472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4"/>
          <p:cNvSpPr/>
          <p:nvPr/>
        </p:nvSpPr>
        <p:spPr>
          <a:xfrm>
            <a:off x="320040" y="38862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ru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777240" y="390448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Роскомнадзор — реестр СМИ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5897880" y="390448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rkn.gov.ru/mass-communications/reestr/media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320040" y="4389120"/>
            <a:ext cx="347472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4"/>
          <p:cNvSpPr/>
          <p:nvPr/>
        </p:nvSpPr>
        <p:spPr>
          <a:xfrm>
            <a:off x="320040" y="43891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ru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777240" y="440740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8"/>
              </a:buClr>
              <a:buSzPts val="1200"/>
              <a:buFont typeface="Calibri"/>
              <a:buNone/>
            </a:pPr>
            <a:r>
              <a:rPr b="1" lang="ru" sz="1200">
                <a:solidFill>
                  <a:srgbClr val="CCDDE8"/>
                </a:solidFill>
                <a:latin typeface="Calibri"/>
                <a:ea typeface="Calibri"/>
                <a:cs typeface="Calibri"/>
                <a:sym typeface="Calibri"/>
              </a:rPr>
              <a:t>Telegram-канал ИД «Коммерсантъ»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5897880" y="44074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i="1" lang="ru" sz="1000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t.me/kommersant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