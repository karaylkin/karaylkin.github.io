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5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325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504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3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0" y="-457200"/>
            <a:ext cx="3200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0" b="1" dirty="0">
                <a:solidFill>
                  <a:srgbClr val="FFFFFF">
                    <a:alpha val="8000"/>
                  </a:srgbClr>
                </a:solidFill>
              </a:rPr>
              <a:t>+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КонсультантПлюс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Справочная правовая система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480" y="2468880"/>
            <a:ext cx="256032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информационного ресурса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consultant.ru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18C51A-9DEB-4FD2-998D-C89B24BB55E3}"/>
              </a:ext>
            </a:extLst>
          </p:cNvPr>
          <p:cNvSpPr txBox="1"/>
          <p:nvPr/>
        </p:nvSpPr>
        <p:spPr>
          <a:xfrm>
            <a:off x="411480" y="2896437"/>
            <a:ext cx="56396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4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</a:t>
            </a:r>
            <a:r>
              <a:rPr lang="en-US" sz="14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ru-RU" sz="14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Ибрагимов Р.А.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FFFFF"/>
                </a:solidFill>
              </a:rPr>
              <a:t>НАЗВАНИЕ И ГОД СОЗДАНИЯ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40233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«КонсультантПлюс»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C3A"/>
                </a:solidFill>
              </a:rPr>
              <a:t>Тип: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11680" y="16916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6"/>
                </a:solidFill>
              </a:rPr>
              <a:t>Справочная правовая система (СПС)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6712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C3A"/>
                </a:solidFill>
              </a:rPr>
              <a:t>Год создания: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0" y="21671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6"/>
                </a:solidFill>
              </a:rPr>
              <a:t>1992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64261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C3A"/>
                </a:solidFill>
              </a:rPr>
              <a:t>Юр. регистрация: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11680" y="264261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6"/>
                </a:solidFill>
              </a:rPr>
              <a:t>8 декабря 1994 г.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11810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C3A"/>
                </a:solidFill>
              </a:rPr>
              <a:t>Орг.-правовая форма: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11680" y="311810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6"/>
                </a:solidFill>
              </a:rPr>
              <a:t>ЗАО «КонсультантПлюс»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59359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C3A"/>
                </a:solidFill>
              </a:rPr>
              <a:t>ОКВЭД: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11680" y="359359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6"/>
                </a:solidFill>
              </a:rPr>
              <a:t>63.11.1 — базы данных и инф. ресурсы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0690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C3A"/>
                </a:solidFill>
              </a:rPr>
              <a:t>Реестр РФ ПО: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11680" y="40690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66"/>
                </a:solidFill>
              </a:rPr>
              <a:t>Запись № 212 от 18.03.2016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822960"/>
            <a:ext cx="4251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822960"/>
            <a:ext cx="4251960" cy="54864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0058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570"/>
                </a:solidFill>
              </a:rPr>
              <a:t>Ключевые даты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545336"/>
            <a:ext cx="548640" cy="25603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5453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1992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21808" y="15270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выпуск системы по федеральному законодательству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1993392"/>
            <a:ext cx="548640" cy="25603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9933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1995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21808" y="197510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Появление судебной практики в базе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2441448"/>
            <a:ext cx="548640" cy="25603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44144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1997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21808" y="2423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официального сайта consultant.ru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2889504"/>
            <a:ext cx="548640" cy="25603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8895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2004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21808" y="287121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 «К+: Высшая школа» для студентов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3337560"/>
            <a:ext cx="548640" cy="25603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33375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2012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321808" y="33192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20-летие сети; 1-е место по ВЦИОМ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3785616"/>
            <a:ext cx="548640" cy="25603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7856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2022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21808" y="37673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30-летие; 300 млн документов в базе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63440" y="4233672"/>
            <a:ext cx="548640" cy="25603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423367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2025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321808" y="421538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решения по госзакупкам и налогам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400" b="1" kern="0" spc="150" dirty="0">
                <a:solidFill>
                  <a:srgbClr val="FFFFFF"/>
                </a:solidFill>
              </a:rPr>
              <a:t>СКРИНШОТ РЕСУРСА</a:t>
            </a:r>
            <a:endParaRPr lang="en-US" sz="1400" dirty="0"/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63EC8CD5-2153-457F-A15D-27DA8D8DF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63" y="824624"/>
            <a:ext cx="8873674" cy="4089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890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33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FFFFF"/>
                </a:solidFill>
              </a:rPr>
              <a:t>ОСНОВНЫЕ НАПРАВЛЕНИЯ ДЕЯТЕЛЬНОСТИ И ФУНКЦИИ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70632" cy="1828800"/>
          </a:xfrm>
          <a:prstGeom prst="rect">
            <a:avLst/>
          </a:prstGeom>
          <a:solidFill>
            <a:srgbClr val="152D40"/>
          </a:solidFill>
          <a:ln w="12700">
            <a:solidFill>
              <a:srgbClr val="1E3D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502920" cy="182880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502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05156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Законодательство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50876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</a:rPr>
              <a:t>Федеральные и региональные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</a:rPr>
              <a:t>нормативно-правовые акты РФ с 1910 года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82112" y="868680"/>
            <a:ext cx="2770632" cy="1828800"/>
          </a:xfrm>
          <a:prstGeom prst="rect">
            <a:avLst/>
          </a:prstGeom>
          <a:solidFill>
            <a:srgbClr val="152D40"/>
          </a:solidFill>
          <a:ln w="12700">
            <a:solidFill>
              <a:srgbClr val="1E3D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82112" y="868680"/>
            <a:ext cx="502920" cy="1828800"/>
          </a:xfrm>
          <a:prstGeom prst="rect">
            <a:avLst/>
          </a:prstGeom>
          <a:solidFill>
            <a:srgbClr val="1D6A52"/>
          </a:solidFill>
          <a:ln w="12700">
            <a:solidFill>
              <a:srgbClr val="1D6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82112" y="868680"/>
            <a:ext cx="502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76472" y="105156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Судебная практика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76472" y="150876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</a:rPr>
              <a:t>Решения ВС, КС, арбитражных судов,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</a:rPr>
              <a:t>мировых судей — свыше 23 млн актов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9904" y="868680"/>
            <a:ext cx="2770632" cy="1828800"/>
          </a:xfrm>
          <a:prstGeom prst="rect">
            <a:avLst/>
          </a:prstGeom>
          <a:solidFill>
            <a:srgbClr val="152D40"/>
          </a:solidFill>
          <a:ln w="12700">
            <a:solidFill>
              <a:srgbClr val="1E3D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9904" y="868680"/>
            <a:ext cx="502920" cy="1828800"/>
          </a:xfrm>
          <a:prstGeom prst="rect">
            <a:avLst/>
          </a:prstGeom>
          <a:solidFill>
            <a:srgbClr val="6E2A0C"/>
          </a:solidFill>
          <a:ln w="12700">
            <a:solidFill>
              <a:srgbClr val="6E2A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868680"/>
            <a:ext cx="502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84264" y="105156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Консультации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84264" y="150876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</a:rPr>
              <a:t>Разъяснения по бухучёту, налогам,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</a:rPr>
              <a:t>кадровым и юридическим вопросам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2770632" cy="1828800"/>
          </a:xfrm>
          <a:prstGeom prst="rect">
            <a:avLst/>
          </a:prstGeom>
          <a:solidFill>
            <a:srgbClr val="152D40"/>
          </a:solidFill>
          <a:ln w="12700">
            <a:solidFill>
              <a:srgbClr val="1E3D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880360"/>
            <a:ext cx="502920" cy="18288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880360"/>
            <a:ext cx="502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306324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Комментарии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352044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</a:rPr>
              <a:t>Авторские и фирменные комментарии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</a:rPr>
              <a:t>к законам, путеводители по отраслям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82112" y="2880360"/>
            <a:ext cx="2770632" cy="1828800"/>
          </a:xfrm>
          <a:prstGeom prst="rect">
            <a:avLst/>
          </a:prstGeom>
          <a:solidFill>
            <a:srgbClr val="152D40"/>
          </a:solidFill>
          <a:ln w="12700">
            <a:solidFill>
              <a:srgbClr val="1E3D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82112" y="2880360"/>
            <a:ext cx="502920" cy="1828800"/>
          </a:xfrm>
          <a:prstGeom prst="rect">
            <a:avLst/>
          </a:prstGeom>
          <a:solidFill>
            <a:srgbClr val="5C3A1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82112" y="2880360"/>
            <a:ext cx="502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776472" y="306324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Конструкторы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76472" y="352044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</a:rPr>
              <a:t>Онлайн-сервисы: договоры, учётная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</a:rPr>
              <a:t>политика, должностные инструкции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9904" y="2880360"/>
            <a:ext cx="2770632" cy="1828800"/>
          </a:xfrm>
          <a:prstGeom prst="rect">
            <a:avLst/>
          </a:prstGeom>
          <a:solidFill>
            <a:srgbClr val="152D40"/>
          </a:solidFill>
          <a:ln w="12700">
            <a:solidFill>
              <a:srgbClr val="1E3D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9904" y="2880360"/>
            <a:ext cx="502920" cy="18288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9904" y="2880360"/>
            <a:ext cx="502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684264" y="306324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Образование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84264" y="352044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</a:rPr>
              <a:t>К+: Студент, К+: Средняя школа,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</a:rPr>
              <a:t>учебный центр, видеосеминары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FFFFF"/>
                </a:solidFill>
              </a:rPr>
              <a:t>ПОЛЬЗОВАТЕЛИ СИСТЕМЫ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3200400" cy="3977640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3716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A843"/>
                </a:solidFill>
              </a:rPr>
              <a:t>1 000 000+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" y="23774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DDE8"/>
                </a:solidFill>
              </a:rPr>
              <a:t>установленных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DDE8"/>
                </a:solidFill>
              </a:rPr>
              <a:t>комплектов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3154680"/>
            <a:ext cx="22860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32918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DDE8"/>
                </a:solidFill>
              </a:rPr>
              <a:t>300 000 000+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CDDE8"/>
                </a:solidFill>
              </a:rPr>
              <a:t>документов в базе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4069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BB"/>
                </a:solidFill>
              </a:rPr>
              <a:t>700+ региональных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8899BB"/>
                </a:solidFill>
              </a:rPr>
              <a:t>информационных центров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49040" y="841248"/>
            <a:ext cx="25146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841248"/>
            <a:ext cx="164592" cy="117043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86784" y="93268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C3A"/>
                </a:solidFill>
              </a:rPr>
              <a:t>Юристы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986784" y="134416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66"/>
                </a:solidFill>
              </a:rPr>
              <a:t>Поиск нормативных актов, судебной практики,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A66"/>
                </a:solidFill>
              </a:rPr>
              <a:t>комментариев к законодательству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841248"/>
            <a:ext cx="25146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841248"/>
            <a:ext cx="164592" cy="1170432"/>
          </a:xfrm>
          <a:prstGeom prst="rect">
            <a:avLst/>
          </a:prstGeom>
          <a:solidFill>
            <a:srgbClr val="1D6A52"/>
          </a:solidFill>
          <a:ln w="12700">
            <a:solidFill>
              <a:srgbClr val="1D6A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38544" y="93268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C3A"/>
                </a:solidFill>
              </a:rPr>
              <a:t>Бухгалтеры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2C3A"/>
                </a:solidFill>
              </a:rPr>
              <a:t>и финансисты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638544" y="134416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66"/>
                </a:solidFill>
              </a:rPr>
              <a:t>Консультации по налогам, бухучёту,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A66"/>
                </a:solidFill>
              </a:rPr>
              <a:t>отчётности; журнал «Главная книга»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2139696"/>
            <a:ext cx="25146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2139696"/>
            <a:ext cx="164592" cy="1170432"/>
          </a:xfrm>
          <a:prstGeom prst="rect">
            <a:avLst/>
          </a:prstGeom>
          <a:solidFill>
            <a:srgbClr val="6E2A0C"/>
          </a:solidFill>
          <a:ln w="12700">
            <a:solidFill>
              <a:srgbClr val="6E2A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86784" y="223113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C3A"/>
                </a:solidFill>
              </a:rPr>
              <a:t>Кадровики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2C3A"/>
                </a:solidFill>
              </a:rPr>
              <a:t>и HR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986784" y="2642616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66"/>
                </a:solidFill>
              </a:rPr>
              <a:t>Трудовое законодательство, должностные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A66"/>
                </a:solidFill>
              </a:rPr>
              <a:t>инструкции, кадровый документооборот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2139696"/>
            <a:ext cx="25146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2139696"/>
            <a:ext cx="164592" cy="11704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38544" y="223113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C3A"/>
                </a:solidFill>
              </a:rPr>
              <a:t>Руководители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38544" y="2642616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66"/>
                </a:solidFill>
              </a:rPr>
              <a:t>Обзоры изменений законодательства,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A66"/>
                </a:solidFill>
              </a:rPr>
              <a:t>калькуляторы и готовые решения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49040" y="3438144"/>
            <a:ext cx="25146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49040" y="3438144"/>
            <a:ext cx="164592" cy="1170432"/>
          </a:xfrm>
          <a:prstGeom prst="rect">
            <a:avLst/>
          </a:prstGeom>
          <a:solidFill>
            <a:srgbClr val="5C3A1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86784" y="352958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C3A"/>
                </a:solidFill>
              </a:rPr>
              <a:t>Студенты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2C3A"/>
                </a:solidFill>
              </a:rPr>
              <a:t>и преподаватели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986784" y="394106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66"/>
                </a:solidFill>
              </a:rPr>
              <a:t>Бесплатная онлайн-версия К+: Студент,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A66"/>
                </a:solidFill>
              </a:rPr>
              <a:t>учебные материалы, диски ВШ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3438144"/>
            <a:ext cx="25146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3438144"/>
            <a:ext cx="164592" cy="117043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38544" y="352958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C3A"/>
                </a:solidFill>
              </a:rPr>
              <a:t>Госслужащие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638544" y="394106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A66"/>
                </a:solidFill>
              </a:rPr>
              <a:t>Классификатор правовых актов, одобрен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A66"/>
                </a:solidFill>
              </a:rPr>
              <a:t>Указом Президента РФ в 2000 году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FFFFF"/>
                </a:solidFill>
              </a:rPr>
              <a:t>СИСТЕМА УПРАВЛЕНИЯ И СТРУКТУРА САЙТА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3931920" cy="54864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570"/>
                </a:solidFill>
              </a:rPr>
              <a:t>Система управления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3749040" cy="475488"/>
          </a:xfrm>
          <a:prstGeom prst="rect">
            <a:avLst/>
          </a:prstGeom>
          <a:solidFill>
            <a:srgbClr val="F2EDE6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0817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A66"/>
                </a:solidFill>
              </a:rPr>
              <a:t>Организация: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5910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3A"/>
                </a:solidFill>
              </a:rPr>
              <a:t>ЗАО «КонсультантПлюс»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3749040" cy="475488"/>
          </a:xfrm>
          <a:prstGeom prst="rect">
            <a:avLst/>
          </a:prstGeom>
          <a:solidFill>
            <a:srgbClr val="F2EDE6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5681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A66"/>
                </a:solidFill>
              </a:rPr>
              <a:t>Гендиректор: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13969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3A"/>
                </a:solidFill>
              </a:rPr>
              <a:t>Колодиева Галина Ивановна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C3A"/>
                </a:solidFill>
              </a:rPr>
              <a:t>(с мая 2023 г.)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468880"/>
            <a:ext cx="3749040" cy="475488"/>
          </a:xfrm>
          <a:prstGeom prst="rect">
            <a:avLst/>
          </a:prstGeom>
          <a:solidFill>
            <a:srgbClr val="F2EDE6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0545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A66"/>
                </a:solidFill>
              </a:rPr>
              <a:t>Адрес: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68833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3A"/>
                </a:solidFill>
              </a:rPr>
              <a:t>Москва, ул. Кржижановского,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C3A"/>
                </a:solidFill>
              </a:rPr>
              <a:t>д. 19/28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017520"/>
            <a:ext cx="3749040" cy="475488"/>
          </a:xfrm>
          <a:prstGeom prst="rect">
            <a:avLst/>
          </a:prstGeom>
          <a:solidFill>
            <a:srgbClr val="F2EDE6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540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A66"/>
                </a:solidFill>
              </a:rPr>
              <a:t>Сотрудники: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23697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3A"/>
                </a:solidFill>
              </a:rPr>
              <a:t>~234 человека (2024 г.)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566160"/>
            <a:ext cx="3749040" cy="475488"/>
          </a:xfrm>
          <a:prstGeom prst="rect">
            <a:avLst/>
          </a:prstGeom>
          <a:solidFill>
            <a:srgbClr val="F2EDE6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60273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A66"/>
                </a:solidFill>
              </a:rPr>
              <a:t>Выручка 2024: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378561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3A"/>
                </a:solidFill>
              </a:rPr>
              <a:t>1 253 млн руб.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114800"/>
            <a:ext cx="3749040" cy="475488"/>
          </a:xfrm>
          <a:prstGeom prst="rect">
            <a:avLst/>
          </a:prstGeom>
          <a:solidFill>
            <a:srgbClr val="F2EDE6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15137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A66"/>
                </a:solidFill>
              </a:rPr>
              <a:t>Распростр-е: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43342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3A"/>
                </a:solidFill>
              </a:rPr>
              <a:t>700+ РИЦ по всей России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26280" y="804672"/>
            <a:ext cx="4297680" cy="4023360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6280" y="804672"/>
            <a:ext cx="42976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89611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</a:rPr>
              <a:t>Структура сайта consultant.ru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17720" y="1371600"/>
            <a:ext cx="73152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Законодательство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65392" y="1371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Кодексы, законы, указы, постановления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1837944"/>
            <a:ext cx="73152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18379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Судебная практика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65392" y="183794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КС РФ, ВС РФ, арбитражные суды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2304288"/>
            <a:ext cx="73152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23042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Финансовые консультации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65392" y="23042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Налоги, бухучёт, зарплата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17720" y="2770632"/>
            <a:ext cx="73152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27706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Путеводители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65392" y="27706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По договорам, кадрам, налогам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17720" y="3236976"/>
            <a:ext cx="73152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32369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Онлайн-сервисы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65392" y="323697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Конструкторы, калькуляторы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17720" y="3703320"/>
            <a:ext cx="73152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Студентам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565392" y="3703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Бесплатный доступ, учебные материалы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17720" y="4169664"/>
            <a:ext cx="73152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73168" y="41696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О компании / контакты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565392" y="416966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История, партнёры, РИЦ, поддержка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FFFFF"/>
                </a:solidFill>
              </a:rPr>
              <a:t>ОЦЕНКА КАЧЕСТВА · РЕКЛАМА · URL · РАСПОЛОЖЕНИЕ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5303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5303520" cy="54864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5570"/>
                </a:solidFill>
              </a:rPr>
              <a:t>Оценка качества информации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C3A"/>
                </a:solidFill>
              </a:rPr>
              <a:t>Актуальность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23160" y="1426464"/>
            <a:ext cx="2926080" cy="164592"/>
          </a:xfrm>
          <a:prstGeom prst="rect">
            <a:avLst/>
          </a:prstGeom>
          <a:solidFill>
            <a:srgbClr val="E8E2D8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3160" y="1426464"/>
            <a:ext cx="2838298" cy="16459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3990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A5570"/>
                </a:solidFill>
              </a:rPr>
              <a:t>97%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6642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Ежедневное пополнение, документы в последней редакции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0299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C3A"/>
                </a:solidFill>
              </a:rPr>
              <a:t>Достоверность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423160" y="2066544"/>
            <a:ext cx="2926080" cy="164592"/>
          </a:xfrm>
          <a:prstGeom prst="rect">
            <a:avLst/>
          </a:prstGeom>
          <a:solidFill>
            <a:srgbClr val="E8E2D8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23160" y="2066544"/>
            <a:ext cx="2867558" cy="16459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203911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A5570"/>
                </a:solidFill>
              </a:rPr>
              <a:t>98%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3042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Первичные официальные источники — Минюст, Кремль, суды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2670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C3A"/>
                </a:solidFill>
              </a:rPr>
              <a:t>Полнота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423160" y="2706624"/>
            <a:ext cx="2926080" cy="164592"/>
          </a:xfrm>
          <a:prstGeom prst="rect">
            <a:avLst/>
          </a:prstGeom>
          <a:solidFill>
            <a:srgbClr val="E8E2D8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23160" y="2706624"/>
            <a:ext cx="2809037" cy="16459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26791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A5570"/>
                </a:solidFill>
              </a:rPr>
              <a:t>96%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9443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млн+ документов, охват всех 85 субъектов РФ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33101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C3A"/>
                </a:solidFill>
              </a:rPr>
              <a:t>Удобство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423160" y="3346704"/>
            <a:ext cx="2926080" cy="164592"/>
          </a:xfrm>
          <a:prstGeom prst="rect">
            <a:avLst/>
          </a:prstGeom>
          <a:solidFill>
            <a:srgbClr val="E8E2D8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23160" y="3346704"/>
            <a:ext cx="2662733" cy="16459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331927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A5570"/>
                </a:solidFill>
              </a:rPr>
              <a:t>91%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5844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поиск, готовые решения, мобильное приложение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97880" y="804672"/>
            <a:ext cx="2926080" cy="1874520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8961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Расположение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35040" y="129844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</a:rPr>
              <a:t>Москва, Россия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</a:rPr>
              <a:t>ул. Кржижановского, 19/28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97880" y="2816352"/>
            <a:ext cx="2926080" cy="1664208"/>
          </a:xfrm>
          <a:prstGeom prst="rect">
            <a:avLst/>
          </a:prstGeom>
          <a:solidFill>
            <a:srgbClr val="0A5570"/>
          </a:solidFill>
          <a:ln w="12700">
            <a:solidFill>
              <a:srgbClr val="0A55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9077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Реклама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35040" y="32918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8"/>
                </a:solidFill>
              </a:rPr>
              <a:t>Присутствует на сайте 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CDDE8"/>
                </a:solidFill>
              </a:rPr>
              <a:t>баннеры партнёров и РИЦ.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CDDE8"/>
                </a:solidFill>
              </a:rPr>
              <a:t>В платной версии рекламы нет.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4096512"/>
            <a:ext cx="8503920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114800"/>
            <a:ext cx="594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URL: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" y="413308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www.consultant.ru   ·   edu.consultant.ru (студентам)   ·   Приложения: iOS / Android / Windows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33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FFFFF"/>
                </a:solidFill>
              </a:rPr>
              <a:t>ОБЩЕЕ ВПЕЧАТЛЕНИЕ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749808"/>
          </a:xfrm>
          <a:prstGeom prst="rect">
            <a:avLst/>
          </a:prstGeom>
          <a:solidFill>
            <a:srgbClr val="152D40"/>
          </a:solidFill>
          <a:ln w="12700">
            <a:solidFill>
              <a:srgbClr val="1E3D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201168" cy="74980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961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Дизайн и интерфейс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877824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</a:rPr>
              <a:t>Строгий профессиональный стиль, никакой «игривости». Быстрый поиск вынесен на главную. Навигация интуитивна для специалистов, но может показаться перегруженной новичкам.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73352"/>
            <a:ext cx="8503920" cy="749808"/>
          </a:xfrm>
          <a:prstGeom prst="rect">
            <a:avLst/>
          </a:prstGeom>
          <a:solidFill>
            <a:srgbClr val="152D40"/>
          </a:solidFill>
          <a:ln w="12700">
            <a:solidFill>
              <a:srgbClr val="1E3D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73352"/>
            <a:ext cx="201168" cy="749808"/>
          </a:xfrm>
          <a:prstGeom prst="rect">
            <a:avLst/>
          </a:prstGeom>
          <a:solidFill>
            <a:srgbClr val="1D6A52"/>
          </a:solidFill>
          <a:ln w="12700">
            <a:solidFill>
              <a:srgbClr val="1D6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465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Доступность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1728216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</a:rPr>
              <a:t>Бесплатная некоммерческая версия ограничена. Полный доступ — платная подписка через РИЦ. Студентам доступна бесплатная онлайн-версия «К+: Студент».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523744"/>
            <a:ext cx="8503920" cy="749808"/>
          </a:xfrm>
          <a:prstGeom prst="rect">
            <a:avLst/>
          </a:prstGeom>
          <a:solidFill>
            <a:srgbClr val="152D40"/>
          </a:solidFill>
          <a:ln w="12700">
            <a:solidFill>
              <a:srgbClr val="1E3D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523744"/>
            <a:ext cx="201168" cy="749808"/>
          </a:xfrm>
          <a:prstGeom prst="rect">
            <a:avLst/>
          </a:prstGeom>
          <a:solidFill>
            <a:srgbClr val="6E2A0C"/>
          </a:solidFill>
          <a:ln w="12700">
            <a:solidFill>
              <a:srgbClr val="6E2A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59689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Надёжность источников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578608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</a:rPr>
              <a:t>Документы берутся напрямую из Минюста, Кремля, федеральных судов. Тексты сопровождаются пометками об актуальной редакции, ссылками на изменяющие акты.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374136"/>
            <a:ext cx="8503920" cy="749808"/>
          </a:xfrm>
          <a:prstGeom prst="rect">
            <a:avLst/>
          </a:prstGeom>
          <a:solidFill>
            <a:srgbClr val="152D40"/>
          </a:solidFill>
          <a:ln w="12700">
            <a:solidFill>
              <a:srgbClr val="1E3D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374136"/>
            <a:ext cx="201168" cy="7498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4472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Сильные стороны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3429000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</a:rPr>
              <a:t>Крупнейшая база РФ (300 млн+ документов), ежедневное обновление, развитая аналитика, готовые решения, путеводители, мобильное приложение.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224528"/>
            <a:ext cx="8503920" cy="749808"/>
          </a:xfrm>
          <a:prstGeom prst="rect">
            <a:avLst/>
          </a:prstGeom>
          <a:solidFill>
            <a:srgbClr val="152D40"/>
          </a:solidFill>
          <a:ln w="12700">
            <a:solidFill>
              <a:srgbClr val="1E3D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4224528"/>
            <a:ext cx="201168" cy="749808"/>
          </a:xfrm>
          <a:prstGeom prst="rect">
            <a:avLst/>
          </a:prstGeom>
          <a:solidFill>
            <a:srgbClr val="5C3A1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297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Слабые стороны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4279392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8"/>
                </a:solidFill>
              </a:rPr>
              <a:t>Полный функционал только в платной версии. Интерфейс ориентирован на опытных пользователей. Отсутствие полноценного бесплатного доступа для граждан.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33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349"/>
          </a:solidFill>
          <a:ln w="12700">
            <a:solidFill>
              <a:srgbClr val="0D3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FFFFF"/>
                </a:solidFill>
              </a:rPr>
              <a:t>ИСТОЧНИКИ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47472" cy="329184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3268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DDE8"/>
                </a:solidFill>
              </a:rPr>
              <a:t>Официальный сайт ЗАО «КонсультантПлюс»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79008" y="9326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4A843"/>
                </a:solidFill>
              </a:rPr>
              <a:t>consultant.ru/about/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347472" cy="329184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6304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48132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DDE8"/>
                </a:solidFill>
              </a:rPr>
              <a:t>История компании КонсультантПлюс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79008" y="14813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4A843"/>
                </a:solidFill>
              </a:rPr>
              <a:t>consultant.ru/about/company/history/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011680"/>
            <a:ext cx="347472" cy="329184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01168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02996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DDE8"/>
                </a:solidFill>
              </a:rPr>
              <a:t>О продуктах и реестр российского ПО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79008" y="202996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4A843"/>
                </a:solidFill>
              </a:rPr>
              <a:t>consultant.ru/about/ → О компании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560320"/>
            <a:ext cx="347472" cy="329184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56032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257860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DDE8"/>
                </a:solidFill>
              </a:rPr>
              <a:t>КонсультантПлюс — Википедия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79008" y="257860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4A843"/>
                </a:solidFill>
              </a:rPr>
              <a:t>ru.wikipedia.org/wiki/КонсультантПлюс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108960"/>
            <a:ext cx="347472" cy="329184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10896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12724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DDE8"/>
                </a:solidFill>
              </a:rPr>
              <a:t>Реквизиты ЗАО — Rusprofile.ru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79008" y="312724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4A843"/>
                </a:solidFill>
              </a:rPr>
              <a:t>rusprofile.ru/id/3005727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657600"/>
            <a:ext cx="347472" cy="329184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65760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367588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DDE8"/>
                </a:solidFill>
              </a:rPr>
              <a:t>Финансовые показатели 2024 — RBC Companies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79008" y="36758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4A843"/>
                </a:solidFill>
              </a:rPr>
              <a:t>companies.rbc.ru/id/1027739125908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206240"/>
            <a:ext cx="347472" cy="329184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20624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422452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DDE8"/>
                </a:solidFill>
              </a:rPr>
              <a:t>История системы — cons-plus.ru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79008" y="42245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4A843"/>
                </a:solidFill>
              </a:rPr>
              <a:t>cons-plus.ru/poleznoe/stati/istoriya-konsultantplyus/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770</Words>
  <Application>Microsoft Office PowerPoint</Application>
  <PresentationFormat>Экран (16:9)</PresentationFormat>
  <Paragraphs>186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КонсультантПлюс — справочно-правовая система</dc:title>
  <dc:subject>PptxGenJS Presentation</dc:subject>
  <dc:creator>PptxGenJS</dc:creator>
  <cp:lastModifiedBy>Радмир Ибрагимов</cp:lastModifiedBy>
  <cp:revision>3</cp:revision>
  <dcterms:created xsi:type="dcterms:W3CDTF">2026-04-12T23:04:23Z</dcterms:created>
  <dcterms:modified xsi:type="dcterms:W3CDTF">2026-04-12T23:20:18Z</dcterms:modified>
</cp:coreProperties>
</file>