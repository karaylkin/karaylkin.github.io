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r>
              <a:rPr lang="ru-RU" sz="1100" b="0" i="0" u="none" strike="noStrike">
                <a:solidFill>
                  <a:srgbClr val="555555"/>
                </a:solidFill>
                <a:latin typeface="Arial"/>
              </a:rPr>
              <a:t>Относительный объём данных (млн записей, оценка)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данных (оценка)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65-4390-A7AD-0B78E1423AF9}"/>
              </c:ext>
            </c:extLst>
          </c:dPt>
          <c:dPt>
            <c:idx val="1"/>
            <c:invertIfNegative val="0"/>
            <c:bubble3D val="0"/>
            <c:spPr>
              <a:solidFill>
                <a:srgbClr val="E479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65-4390-A7AD-0B78E1423AF9}"/>
              </c:ext>
            </c:extLst>
          </c:dPt>
          <c:dPt>
            <c:idx val="2"/>
            <c:invertIfNegative val="0"/>
            <c:bubble3D val="0"/>
            <c:spPr>
              <a:solidFill>
                <a:srgbClr val="3747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65-4390-A7AD-0B78E1423AF9}"/>
              </c:ext>
            </c:extLst>
          </c:dPt>
          <c:dPt>
            <c:idx val="3"/>
            <c:invertIfNegative val="0"/>
            <c:bubble3D val="0"/>
            <c:spPr>
              <a:solidFill>
                <a:srgbClr val="232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465-4390-A7AD-0B78E1423AF9}"/>
              </c:ext>
            </c:extLst>
          </c:dPt>
          <c:dPt>
            <c:idx val="4"/>
            <c:invertIfNegative val="0"/>
            <c:bubble3D val="0"/>
            <c:spPr>
              <a:solidFill>
                <a:srgbClr val="8A8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465-4390-A7AD-0B78E1423A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Каталог
товаров</c:v>
                </c:pt>
                <c:pt idx="1">
                  <c:v>Данные
пользователей</c:v>
                </c:pt>
                <c:pt idx="2">
                  <c:v>Логистика
и склады</c:v>
                </c:pt>
                <c:pt idx="3">
                  <c:v>Транзакции
и платежи</c:v>
                </c:pt>
                <c:pt idx="4">
                  <c:v>Отзывы
и рейтинги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180</c:v>
                </c:pt>
                <c:pt idx="3">
                  <c:v>250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465-4390-A7AD-0B78E1423A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67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457200"/>
            <a:ext cx="4114800" cy="411480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37475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862" y="128016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7432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Крупнейшая база данных мира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Основана: 1994  •  Штаб-квартира: Сиэтл, США  •  Сайт: amazon.com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2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Общая информация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2416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41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основания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1216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828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253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05840" y="2176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Джефф Безос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74320" y="2788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62656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Страна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005840" y="3136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США, Сиэтл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274320" y="37490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2277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822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платформы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005840" y="4096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коммерция + Big Data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26280" y="86868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26280" y="868680"/>
            <a:ext cx="54864" cy="3931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0916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ресурсе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09160" y="1417320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 — крупнейшая в мире платформа электронной коммерции и облачных вычислений.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оперирует одной из крупнейших баз данных в мире, хранящей информацию о: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сотнях миллионов товаров и их характеристиках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данных о покупателях и их поведении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историях заказов, транзакциях и отзывах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логистике и цепочках поставок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https://www.amazon.com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Основные направления деятельности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" y="143560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товаров — более 350 млн наименований. Маркетплейс для сторонних продавцов (Amazon Marketplace).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86868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005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AWS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10128" y="143560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в мире облачный провайдер. Хранение, обработка и аналитика Big Data для тысяч компаний.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86868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86868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0058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&amp;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81928" y="143560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Рекомендательные алгоритмы, предиктивная аналитика спроса, машинное обучение для персонализации.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8600" y="288036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88036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0175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38328" y="34472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300 млн активных покупателей, 2 млн продавцов на платформе по всему миру.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288036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88036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01752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310128" y="34472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за 2023 год — $574,8 млрд. Операционная прибыль AWS — ключевой источник дохода группы.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2880360"/>
            <a:ext cx="2788920" cy="17830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88036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1752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81928" y="344728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20+ странах. Центры обработки данных на 5 континентах, 100+ зон доступности.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Структура базы данных Amazon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22960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98755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4768" y="8778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~4 000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44768" y="1188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серверов AWS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всему миру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0" y="17373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0" y="1737360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90195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44768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144768" y="2103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собственная NoSQL СУБД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(миллиарды записей/с)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0" y="26517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0" y="2651760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81635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4768" y="27066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144768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реляционная БД,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совместимая с MySQL/PostgreSQL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0" y="35661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0" y="3566160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73075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44768" y="3621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Redshift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144768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облачное хранилище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аналитики петабайтов данных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Пользователи и оценка качества информации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468880" cy="1371600"/>
          </a:xfrm>
          <a:prstGeom prst="rect">
            <a:avLst/>
          </a:prstGeom>
          <a:solidFill>
            <a:srgbClr val="232F3E"/>
          </a:solidFill>
          <a:ln w="12700">
            <a:solidFill>
              <a:srgbClr val="3747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млн+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468880" cy="1371600"/>
          </a:xfrm>
          <a:prstGeom prst="rect">
            <a:avLst/>
          </a:prstGeom>
          <a:solidFill>
            <a:srgbClr val="232F3E"/>
          </a:solidFill>
          <a:ln w="12700">
            <a:solidFill>
              <a:srgbClr val="3747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68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млн+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платформе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468880" cy="1371600"/>
          </a:xfrm>
          <a:prstGeom prst="rect">
            <a:avLst/>
          </a:prstGeom>
          <a:solidFill>
            <a:srgbClr val="232F3E"/>
          </a:solidFill>
          <a:ln w="12700">
            <a:solidFill>
              <a:srgbClr val="3747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868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информации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2916936"/>
            <a:ext cx="32004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916936"/>
            <a:ext cx="3040380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834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товарах и ценах обновляются в реальном времени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Достоверность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3374136"/>
            <a:ext cx="32004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374136"/>
            <a:ext cx="2816352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291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Механизмы верификации продавцов, модерация отзывов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0" y="3831336"/>
            <a:ext cx="32004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831336"/>
            <a:ext cx="3104388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749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охватывает сотни миллионов SKU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0" y="4288536"/>
            <a:ext cx="32004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4288536"/>
            <a:ext cx="3168396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206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AWS — 99,99% uptime, глобальная CDN-инфраструктура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Безопасность данных и общее впечатление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безопасности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68580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35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для данных в покое, TLS 1.3 в транзите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075688"/>
            <a:ext cx="4023360" cy="68580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128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DSS, ISO 27001, SOC 1/2/3, GDPR, HIPAA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871216"/>
            <a:ext cx="4023360" cy="68580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083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1440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Гранулярное управление доступом (AWS Identity)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666744"/>
            <a:ext cx="4023360" cy="68580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0390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Мультирегиональное резервирование данных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впечатление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572000" y="1261872"/>
            <a:ext cx="4206240" cy="3383280"/>
          </a:xfrm>
          <a:prstGeom prst="rect">
            <a:avLst/>
          </a:prstGeom>
          <a:solidFill>
            <a:srgbClr val="37475A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0" y="1261872"/>
            <a:ext cx="54864" cy="3383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54880" y="137160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представляет собой один из крупнейших и наиболее технологически продвинутых хранилищ данных в мире.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Сайт интуитивно понятен, навигация организована по категориям, поиск с AI-подсказками.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Высокая степень персонализации на основе истории покупок и поведенческой аналитики.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Реклама присутствует (Amazon Ads — собственная рекламная платформа).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Платформа AWS позволяет другим компаниям использовать инфраструктуру Amazon для собственных Big Data решений.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Amazon — эталонный пример применения Big Data в коммерческих целях мирового масштаба.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Крупнейшие базы данных мира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505</Words>
  <Application>Microsoft Office PowerPoint</Application>
  <PresentationFormat>Экран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— Крупнейшая база данных мира</dc:title>
  <dc:subject>PptxGenJS Presentation</dc:subject>
  <dc:creator>Радмир Ибрагимов</dc:creator>
  <cp:lastModifiedBy>Радмир Ибрагимов</cp:lastModifiedBy>
  <cp:revision>3</cp:revision>
  <dcterms:created xsi:type="dcterms:W3CDTF">2026-04-14T18:49:39Z</dcterms:created>
  <dcterms:modified xsi:type="dcterms:W3CDTF">2026-04-14T19:12:58Z</dcterms:modified>
</cp:coreProperties>
</file>